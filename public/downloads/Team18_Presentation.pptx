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 and the problem statement PS-01. Fill in the date.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the script live. Point out the pass count and the alert assert and clear lines.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4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474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400" dirty="0">
                <a:solidFill>
                  <a:srgbClr val="1426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4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592560"/>
            <a:ext cx="10566400" cy="4452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426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474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400" dirty="0">
                <a:solidFill>
                  <a:srgbClr val="1426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4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592560"/>
            <a:ext cx="10566400" cy="4452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426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github.com/RKNAGA18/vsm-gru-asic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spc="200" kern="0" dirty="0">
                <a:solidFill>
                  <a:srgbClr val="3FD0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PS-01 · SUDARSHANA SEMICONDUCTORS VLSI HACKATHON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033984"/>
            <a:ext cx="10883392" cy="1412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460"/>
              </a:lnSpc>
              <a:buNone/>
            </a:pPr>
            <a:r>
              <a:rPr lang="en-US" sz="5200" b="1" i="0" dirty="0">
                <a:solidFill>
                  <a:srgbClr val="F1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RNN-Based Voice Stability Monitor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812800" y="3598466"/>
            <a:ext cx="10883392" cy="676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1900" dirty="0">
                <a:solidFill>
                  <a:srgbClr val="B9CFC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low-power GRU accelerator, taken from RTL to GDSII on a 0.18 µm library with Cadence Genus, Innovus and Tempus.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12800" y="5222280"/>
            <a:ext cx="4079535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1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Team 18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12800" y="5544840"/>
            <a:ext cx="4752856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9CFC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Magesh · 24BVD1048    R Naga Arjun · 24BVD1102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12800" y="5831780"/>
            <a:ext cx="40795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7FA3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powerhouse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975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40"/>
              </a:lnSpc>
              <a:buNone/>
            </a:pPr>
            <a:r>
              <a:rPr lang="en-US" sz="3400" b="1" i="0" dirty="0">
                <a:solidFill>
                  <a:srgbClr val="1426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Detecting a bad call on the device, not in the cloud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12800" y="2118320"/>
            <a:ext cx="10883392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4A5B5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Telecom edge devices must spot degraded call quality in real time, without sending audio away.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15975" y="2797076"/>
            <a:ext cx="3380284" cy="2028031"/>
          </a:xfrm>
          <a:prstGeom prst="roundRect">
            <a:avLst>
              <a:gd name="adj" fmla="val 6106"/>
            </a:avLst>
          </a:prstGeom>
          <a:solidFill>
            <a:srgbClr val="FFFFFF"/>
          </a:solidFill>
          <a:ln w="6350">
            <a:solidFill>
              <a:srgbClr val="D9D6CB"/>
            </a:solidFill>
            <a:prstDash val="solid"/>
          </a:ln>
        </p:spPr>
      </p:sp>
      <p:pic>
        <p:nvPicPr>
          <p:cNvPr id="5" name="Image 0" descr="Activity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73150" y="3054251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73150" y="3638451"/>
            <a:ext cx="117562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426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Live call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073150" y="4070251"/>
            <a:ext cx="2951912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B5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16 features per frame arrive as INT8.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405809" y="2797076"/>
            <a:ext cx="3380284" cy="2028031"/>
          </a:xfrm>
          <a:prstGeom prst="roundRect">
            <a:avLst>
              <a:gd name="adj" fmla="val 6106"/>
            </a:avLst>
          </a:prstGeom>
          <a:solidFill>
            <a:srgbClr val="FFFFFF"/>
          </a:solidFill>
          <a:ln w="6350">
            <a:solidFill>
              <a:srgbClr val="D9D6CB"/>
            </a:solidFill>
            <a:prstDash val="solid"/>
          </a:ln>
        </p:spPr>
      </p:sp>
      <p:pic>
        <p:nvPicPr>
          <p:cNvPr id="9" name="Image 1" descr="Settings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62984" y="3054251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62984" y="3638451"/>
            <a:ext cx="178284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426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Edge device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4662984" y="4070251"/>
            <a:ext cx="2951912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B5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small GRU scores each frame on chip.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7995642" y="2797076"/>
            <a:ext cx="3380284" cy="2028031"/>
          </a:xfrm>
          <a:prstGeom prst="roundRect">
            <a:avLst>
              <a:gd name="adj" fmla="val 6106"/>
            </a:avLst>
          </a:prstGeom>
          <a:solidFill>
            <a:srgbClr val="FFFFFF"/>
          </a:solidFill>
          <a:ln w="6350">
            <a:solidFill>
              <a:srgbClr val="D9D6CB"/>
            </a:solidFill>
            <a:prstDash val="solid"/>
          </a:ln>
        </p:spPr>
      </p:sp>
      <p:pic>
        <p:nvPicPr>
          <p:cNvPr id="13" name="Image 2" descr="Warni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252817" y="3054251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252817" y="3638451"/>
            <a:ext cx="71937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426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Alert</a:t>
            </a:r>
            <a:endParaRPr lang="en-US" sz="2000" dirty="0"/>
          </a:p>
        </p:txBody>
      </p:sp>
      <p:sp>
        <p:nvSpPr>
          <p:cNvPr id="15" name="Text 10"/>
          <p:cNvSpPr/>
          <p:nvPr/>
        </p:nvSpPr>
        <p:spPr>
          <a:xfrm>
            <a:off x="8252817" y="4070251"/>
            <a:ext cx="2951912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B5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smoothed score raises an interrupt.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812800" y="5183882"/>
            <a:ext cx="2139950" cy="401241"/>
          </a:xfrm>
          <a:prstGeom prst="roundRect">
            <a:avLst>
              <a:gd name="adj" fmla="val 50000"/>
            </a:avLst>
          </a:prstGeom>
          <a:solidFill>
            <a:srgbClr val="0F2A2E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1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Under 1 ms per frame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3054350" y="5183882"/>
            <a:ext cx="1426865" cy="401241"/>
          </a:xfrm>
          <a:prstGeom prst="roundRect">
            <a:avLst>
              <a:gd name="adj" fmla="val 50000"/>
            </a:avLst>
          </a:prstGeom>
          <a:solidFill>
            <a:srgbClr val="0F2A2E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1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INT8 weights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4582815" y="5183882"/>
            <a:ext cx="1782266" cy="401241"/>
          </a:xfrm>
          <a:prstGeom prst="roundRect">
            <a:avLst>
              <a:gd name="adj" fmla="val 50000"/>
            </a:avLst>
          </a:prstGeom>
          <a:solidFill>
            <a:srgbClr val="0F2A2E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1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INT16 activations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66681" y="5183882"/>
            <a:ext cx="2097881" cy="401241"/>
          </a:xfrm>
          <a:prstGeom prst="roundRect">
            <a:avLst>
              <a:gd name="adj" fmla="val 50000"/>
            </a:avLst>
          </a:prstGeom>
          <a:solidFill>
            <a:srgbClr val="0F2A2E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1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Low-milliwatt power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812800" y="6238280"/>
            <a:ext cx="18440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A7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Team 18 · powerhouse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1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9150" y="1520130"/>
            <a:ext cx="3424734" cy="728861"/>
          </a:xfrm>
          <a:prstGeom prst="roundRect">
            <a:avLst>
              <a:gd name="adj" fmla="val 11326"/>
            </a:avLst>
          </a:prstGeom>
          <a:solidFill>
            <a:srgbClr val="17403F"/>
          </a:solidFill>
          <a:ln w="12700">
            <a:solidFill>
              <a:srgbClr val="3FD0B4"/>
            </a:solidFill>
            <a:prstDash val="solid"/>
          </a:ln>
        </p:spPr>
        <p:txBody>
          <a:bodyPr wrap="square" lIns="61801" tIns="109172" rIns="61801" bIns="83772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1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Sequencer FSM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383584" y="1520130"/>
            <a:ext cx="3424734" cy="728861"/>
          </a:xfrm>
          <a:prstGeom prst="roundRect">
            <a:avLst>
              <a:gd name="adj" fmla="val 11326"/>
            </a:avLst>
          </a:prstGeom>
          <a:solidFill>
            <a:srgbClr val="17403F"/>
          </a:solidFill>
          <a:ln w="12700">
            <a:solidFill>
              <a:srgbClr val="3FD0B4"/>
            </a:solidFill>
            <a:prstDash val="solid"/>
          </a:ln>
        </p:spPr>
        <p:txBody>
          <a:bodyPr wrap="square" lIns="61801" tIns="109172" rIns="61801" bIns="83772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1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Weight memory: 1552 bytes + 49 INT16 biases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948017" y="1520130"/>
            <a:ext cx="3424734" cy="728861"/>
          </a:xfrm>
          <a:prstGeom prst="roundRect">
            <a:avLst>
              <a:gd name="adj" fmla="val 11326"/>
            </a:avLst>
          </a:prstGeom>
          <a:solidFill>
            <a:srgbClr val="17403F"/>
          </a:solidFill>
          <a:ln w="12700">
            <a:solidFill>
              <a:srgbClr val="3FD0B4"/>
            </a:solidFill>
            <a:prstDash val="solid"/>
          </a:ln>
        </p:spPr>
        <p:txBody>
          <a:bodyPr wrap="square" lIns="61801" tIns="109172" rIns="61801" bIns="83772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1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Register file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12800" y="2509341"/>
            <a:ext cx="1850000" cy="868561"/>
          </a:xfrm>
          <a:custGeom>
            <a:avLst/>
            <a:gdLst/>
            <a:ahLst/>
            <a:cxnLst/>
            <a:rect l="l" t="t" r="r" b="b"/>
            <a:pathLst>
              <a:path w="2052340" h="868561">
                <a:moveTo>
                  <a:pt x="88900" y="0"/>
                </a:moveTo>
                <a:lnTo>
                  <a:pt x="1963440" y="0"/>
                </a:lnTo>
                <a:arcTo hR="88900" wR="88900" stAng="16200000" swAng="5400000"/>
                <a:lnTo>
                  <a:pt x="2052340" y="779661"/>
                </a:lnTo>
                <a:arcTo hR="88900" wR="88900" stAng="0" swAng="5400000"/>
                <a:lnTo>
                  <a:pt x="88900" y="868561"/>
                </a:lnTo>
                <a:arcTo hR="88900" wR="88900" stAng="5400000" swAng="5400000"/>
                <a:lnTo>
                  <a:pt x="0" y="88900"/>
                </a:lnTo>
                <a:arcTo hR="88900" wR="88900" stAng="10800000" swAng="5400000"/>
                <a:close/>
              </a:path>
            </a:pathLst>
          </a:custGeom>
          <a:solidFill>
            <a:srgbClr val="F1EFE8"/>
          </a:solidFill>
          <a:ln/>
        </p:spPr>
        <p:txBody>
          <a:bodyPr wrap="square" lIns="34620" tIns="114300" rIns="34620" bIns="8890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6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AXI-Stream in</a:t>
            </a:r>
            <a:endParaRPr lang="en-US" sz="1200" dirty="0"/>
          </a:p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6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16 × INT8, tlast on beat 16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071148" y="2509341"/>
            <a:ext cx="1850000" cy="868561"/>
          </a:xfrm>
          <a:custGeom>
            <a:avLst/>
            <a:gdLst/>
            <a:ahLst/>
            <a:cxnLst/>
            <a:rect l="l" t="t" r="r" b="b"/>
            <a:pathLst>
              <a:path w="2052340" h="868561">
                <a:moveTo>
                  <a:pt x="88900" y="0"/>
                </a:moveTo>
                <a:lnTo>
                  <a:pt x="1963440" y="0"/>
                </a:lnTo>
                <a:arcTo hR="88900" wR="88900" stAng="16200000" swAng="5400000"/>
                <a:lnTo>
                  <a:pt x="2052340" y="779661"/>
                </a:lnTo>
                <a:arcTo hR="88900" wR="88900" stAng="0" swAng="5400000"/>
                <a:lnTo>
                  <a:pt x="88900" y="868561"/>
                </a:lnTo>
                <a:arcTo hR="88900" wR="88900" stAng="5400000" swAng="5400000"/>
                <a:lnTo>
                  <a:pt x="0" y="88900"/>
                </a:lnTo>
                <a:arcTo hR="88900" wR="88900" stAng="10800000" swAng="5400000"/>
                <a:close/>
              </a:path>
            </a:pathLst>
          </a:custGeom>
          <a:solidFill>
            <a:srgbClr val="F1EFE8"/>
          </a:solidFill>
          <a:ln/>
        </p:spPr>
        <p:txBody>
          <a:bodyPr wrap="square" lIns="34620" tIns="114300" rIns="34620" bIns="8890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6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Frame buffer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29496" y="2509341"/>
            <a:ext cx="1850000" cy="868561"/>
          </a:xfrm>
          <a:custGeom>
            <a:avLst/>
            <a:gdLst/>
            <a:ahLst/>
            <a:cxnLst/>
            <a:rect l="l" t="t" r="r" b="b"/>
            <a:pathLst>
              <a:path w="2052340" h="868561">
                <a:moveTo>
                  <a:pt x="88900" y="0"/>
                </a:moveTo>
                <a:lnTo>
                  <a:pt x="1963440" y="0"/>
                </a:lnTo>
                <a:arcTo hR="88900" wR="88900" stAng="16200000" swAng="5400000"/>
                <a:lnTo>
                  <a:pt x="2052340" y="779661"/>
                </a:lnTo>
                <a:arcTo hR="88900" wR="88900" stAng="0" swAng="5400000"/>
                <a:lnTo>
                  <a:pt x="88900" y="868561"/>
                </a:lnTo>
                <a:arcTo hR="88900" wR="88900" stAng="5400000" swAng="5400000"/>
                <a:lnTo>
                  <a:pt x="0" y="88900"/>
                </a:lnTo>
                <a:arcTo hR="88900" wR="88900" stAng="10800000" swAng="5400000"/>
                <a:close/>
              </a:path>
            </a:pathLst>
          </a:custGeom>
          <a:solidFill>
            <a:srgbClr val="3FD0B4"/>
          </a:solidFill>
          <a:ln/>
        </p:spPr>
        <p:txBody>
          <a:bodyPr wrap="square" lIns="34620" tIns="114300" rIns="34620" bIns="8890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F2A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Shared MAC</a:t>
            </a:r>
            <a:endParaRPr lang="en-US" sz="1200" dirty="0"/>
          </a:p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F2A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16×8 MAC + 17×18 gating multiplier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587844" y="2509341"/>
            <a:ext cx="1850000" cy="868561"/>
          </a:xfrm>
          <a:custGeom>
            <a:avLst/>
            <a:gdLst/>
            <a:ahLst/>
            <a:cxnLst/>
            <a:rect l="l" t="t" r="r" b="b"/>
            <a:pathLst>
              <a:path w="2052340" h="868561">
                <a:moveTo>
                  <a:pt x="88900" y="0"/>
                </a:moveTo>
                <a:lnTo>
                  <a:pt x="1963440" y="0"/>
                </a:lnTo>
                <a:arcTo hR="88900" wR="88900" stAng="16200000" swAng="5400000"/>
                <a:lnTo>
                  <a:pt x="2052340" y="779661"/>
                </a:lnTo>
                <a:arcTo hR="88900" wR="88900" stAng="0" swAng="5400000"/>
                <a:lnTo>
                  <a:pt x="88900" y="868561"/>
                </a:lnTo>
                <a:arcTo hR="88900" wR="88900" stAng="5400000" swAng="5400000"/>
                <a:lnTo>
                  <a:pt x="0" y="88900"/>
                </a:lnTo>
                <a:arcTo hR="88900" wR="88900" stAng="10800000" swAng="5400000"/>
                <a:close/>
              </a:path>
            </a:pathLst>
          </a:custGeom>
          <a:solidFill>
            <a:srgbClr val="F1EFE8"/>
          </a:solidFill>
          <a:ln/>
        </p:spPr>
        <p:txBody>
          <a:bodyPr wrap="square" lIns="34620" tIns="114300" rIns="34620" bIns="8890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6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Sigmoid and tanh LUTs</a:t>
            </a:r>
            <a:endParaRPr lang="en-US" sz="1200" dirty="0"/>
          </a:p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6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256 entries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846192" y="2509341"/>
            <a:ext cx="1850000" cy="868561"/>
          </a:xfrm>
          <a:custGeom>
            <a:avLst/>
            <a:gdLst/>
            <a:ahLst/>
            <a:cxnLst/>
            <a:rect l="l" t="t" r="r" b="b"/>
            <a:pathLst>
              <a:path w="2052340" h="868561">
                <a:moveTo>
                  <a:pt x="88900" y="0"/>
                </a:moveTo>
                <a:lnTo>
                  <a:pt x="1963440" y="0"/>
                </a:lnTo>
                <a:arcTo hR="88900" wR="88900" stAng="16200000" swAng="5400000"/>
                <a:lnTo>
                  <a:pt x="2052340" y="779661"/>
                </a:lnTo>
                <a:arcTo hR="88900" wR="88900" stAng="0" swAng="5400000"/>
                <a:lnTo>
                  <a:pt x="88900" y="868561"/>
                </a:lnTo>
                <a:arcTo hR="88900" wR="88900" stAng="5400000" swAng="5400000"/>
                <a:lnTo>
                  <a:pt x="0" y="88900"/>
                </a:lnTo>
                <a:arcTo hR="88900" wR="88900" stAng="10800000" swAng="5400000"/>
                <a:close/>
              </a:path>
            </a:pathLst>
          </a:custGeom>
          <a:solidFill>
            <a:srgbClr val="F1EFE8"/>
          </a:solidFill>
          <a:ln/>
        </p:spPr>
        <p:txBody>
          <a:bodyPr wrap="square" lIns="34620" tIns="114300" rIns="34620" bIns="8890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6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Gate update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12800" y="3801902"/>
            <a:ext cx="1850000" cy="655241"/>
          </a:xfrm>
          <a:custGeom>
            <a:avLst/>
            <a:gdLst/>
            <a:ahLst/>
            <a:cxnLst/>
            <a:rect l="l" t="t" r="r" b="b"/>
            <a:pathLst>
              <a:path w="2052340" h="655241">
                <a:moveTo>
                  <a:pt x="88900" y="0"/>
                </a:moveTo>
                <a:lnTo>
                  <a:pt x="1963440" y="0"/>
                </a:lnTo>
                <a:arcTo hR="88900" wR="88900" stAng="16200000" swAng="5400000"/>
                <a:lnTo>
                  <a:pt x="2052340" y="566341"/>
                </a:lnTo>
                <a:arcTo hR="88900" wR="88900" stAng="0" swAng="5400000"/>
                <a:lnTo>
                  <a:pt x="88900" y="655241"/>
                </a:lnTo>
                <a:arcTo hR="88900" wR="88900" stAng="5400000" swAng="5400000"/>
                <a:lnTo>
                  <a:pt x="0" y="88900"/>
                </a:lnTo>
                <a:arcTo hR="88900" wR="88900" stAng="10800000" swAng="5400000"/>
                <a:close/>
              </a:path>
            </a:pathLst>
          </a:custGeom>
          <a:solidFill>
            <a:srgbClr val="F1EFE8"/>
          </a:solidFill>
          <a:ln/>
        </p:spPr>
        <p:txBody>
          <a:bodyPr wrap="square" lIns="34620" tIns="114300" rIns="34620" bIns="8890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6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Hidden state</a:t>
            </a:r>
            <a:endParaRPr lang="en-US" sz="1200" dirty="0"/>
          </a:p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6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16 × INT16, flush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071148" y="3801902"/>
            <a:ext cx="1850000" cy="655241"/>
          </a:xfrm>
          <a:custGeom>
            <a:avLst/>
            <a:gdLst/>
            <a:ahLst/>
            <a:cxnLst/>
            <a:rect l="l" t="t" r="r" b="b"/>
            <a:pathLst>
              <a:path w="2052340" h="655241">
                <a:moveTo>
                  <a:pt x="88900" y="0"/>
                </a:moveTo>
                <a:lnTo>
                  <a:pt x="1963440" y="0"/>
                </a:lnTo>
                <a:arcTo hR="88900" wR="88900" stAng="16200000" swAng="5400000"/>
                <a:lnTo>
                  <a:pt x="2052340" y="566341"/>
                </a:lnTo>
                <a:arcTo hR="88900" wR="88900" stAng="0" swAng="5400000"/>
                <a:lnTo>
                  <a:pt x="88900" y="655241"/>
                </a:lnTo>
                <a:arcTo hR="88900" wR="88900" stAng="5400000" swAng="5400000"/>
                <a:lnTo>
                  <a:pt x="0" y="88900"/>
                </a:lnTo>
                <a:arcTo hR="88900" wR="88900" stAng="10800000" swAng="5400000"/>
                <a:close/>
              </a:path>
            </a:pathLst>
          </a:custGeom>
          <a:solidFill>
            <a:srgbClr val="F1EFE8"/>
          </a:solidFill>
          <a:ln/>
        </p:spPr>
        <p:txBody>
          <a:bodyPr wrap="square" lIns="34620" tIns="114300" rIns="34620" bIns="8890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6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Output layer</a:t>
            </a:r>
            <a:endParaRPr lang="en-US" sz="1200" dirty="0"/>
          </a:p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6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score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29496" y="3801902"/>
            <a:ext cx="1850000" cy="655241"/>
          </a:xfrm>
          <a:custGeom>
            <a:avLst/>
            <a:gdLst/>
            <a:ahLst/>
            <a:cxnLst/>
            <a:rect l="l" t="t" r="r" b="b"/>
            <a:pathLst>
              <a:path w="2052340" h="655241">
                <a:moveTo>
                  <a:pt x="88900" y="0"/>
                </a:moveTo>
                <a:lnTo>
                  <a:pt x="1963440" y="0"/>
                </a:lnTo>
                <a:arcTo hR="88900" wR="88900" stAng="16200000" swAng="5400000"/>
                <a:lnTo>
                  <a:pt x="2052340" y="566341"/>
                </a:lnTo>
                <a:arcTo hR="88900" wR="88900" stAng="0" swAng="5400000"/>
                <a:lnTo>
                  <a:pt x="88900" y="655241"/>
                </a:lnTo>
                <a:arcTo hR="88900" wR="88900" stAng="5400000" swAng="5400000"/>
                <a:lnTo>
                  <a:pt x="0" y="88900"/>
                </a:lnTo>
                <a:arcTo hR="88900" wR="88900" stAng="10800000" swAng="5400000"/>
                <a:close/>
              </a:path>
            </a:pathLst>
          </a:custGeom>
          <a:solidFill>
            <a:srgbClr val="F1EFE8"/>
          </a:solidFill>
          <a:ln/>
        </p:spPr>
        <p:txBody>
          <a:bodyPr wrap="square" lIns="34620" tIns="114300" rIns="34620" bIns="8890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6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Shift-based EMA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587844" y="3801902"/>
            <a:ext cx="1850000" cy="655241"/>
          </a:xfrm>
          <a:custGeom>
            <a:avLst/>
            <a:gdLst/>
            <a:ahLst/>
            <a:cxnLst/>
            <a:rect l="l" t="t" r="r" b="b"/>
            <a:pathLst>
              <a:path w="2052340" h="655241">
                <a:moveTo>
                  <a:pt x="88900" y="0"/>
                </a:moveTo>
                <a:lnTo>
                  <a:pt x="1963440" y="0"/>
                </a:lnTo>
                <a:arcTo hR="88900" wR="88900" stAng="16200000" swAng="5400000"/>
                <a:lnTo>
                  <a:pt x="2052340" y="566341"/>
                </a:lnTo>
                <a:arcTo hR="88900" wR="88900" stAng="0" swAng="5400000"/>
                <a:lnTo>
                  <a:pt x="88900" y="655241"/>
                </a:lnTo>
                <a:arcTo hR="88900" wR="88900" stAng="5400000" swAng="5400000"/>
                <a:lnTo>
                  <a:pt x="0" y="88900"/>
                </a:lnTo>
                <a:arcTo hR="88900" wR="88900" stAng="10800000" swAng="5400000"/>
                <a:close/>
              </a:path>
            </a:pathLst>
          </a:custGeom>
          <a:solidFill>
            <a:srgbClr val="F1EFE8"/>
          </a:solidFill>
          <a:ln/>
        </p:spPr>
        <p:txBody>
          <a:bodyPr wrap="square" lIns="34620" tIns="114300" rIns="34620" bIns="8890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6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Alert with hysteresis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846192" y="3801902"/>
            <a:ext cx="1850000" cy="655241"/>
          </a:xfrm>
          <a:custGeom>
            <a:avLst/>
            <a:gdLst/>
            <a:ahLst/>
            <a:cxnLst/>
            <a:rect l="l" t="t" r="r" b="b"/>
            <a:pathLst>
              <a:path w="2052340" h="655241">
                <a:moveTo>
                  <a:pt x="88900" y="0"/>
                </a:moveTo>
                <a:lnTo>
                  <a:pt x="1963440" y="0"/>
                </a:lnTo>
                <a:arcTo hR="88900" wR="88900" stAng="16200000" swAng="5400000"/>
                <a:lnTo>
                  <a:pt x="2052340" y="566341"/>
                </a:lnTo>
                <a:arcTo hR="88900" wR="88900" stAng="0" swAng="5400000"/>
                <a:lnTo>
                  <a:pt x="88900" y="655241"/>
                </a:lnTo>
                <a:arcTo hR="88900" wR="88900" stAng="5400000" swAng="5400000"/>
                <a:lnTo>
                  <a:pt x="0" y="88900"/>
                </a:lnTo>
                <a:arcTo hR="88900" wR="88900" stAng="10800000" swAng="5400000"/>
                <a:close/>
              </a:path>
            </a:pathLst>
          </a:custGeom>
          <a:solidFill>
            <a:srgbClr val="E8913A"/>
          </a:solidFill>
          <a:ln/>
        </p:spPr>
        <p:txBody>
          <a:bodyPr wrap="square" lIns="34620" tIns="114300" rIns="34620" bIns="8890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6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Interrupt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12800" y="4711143"/>
            <a:ext cx="10883392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9CFC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Arrows show the data flow: left to right on the top row, wrapping from Gate update to Hidden state on the second row. The sequencer drives one time-shared datapath.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12800" y="6238280"/>
            <a:ext cx="18440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FA3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Team 18 · powerhouse</a:t>
            </a:r>
            <a:endParaRPr lang="en-US" sz="1200" dirty="0"/>
          </a:p>
        </p:txBody>
      </p:sp>
      <p:cxnSp>
        <p:nvCxnSpPr>
          <p:cNvPr id="18" name="Connector 17"/>
          <p:cNvCxnSpPr/>
          <p:nvPr/>
        </p:nvCxnSpPr>
        <p:spPr>
          <a:xfrm>
            <a:off x="2722800" y="2943621"/>
            <a:ext cx="288348" cy="0"/>
          </a:xfrm>
          <a:prstGeom prst="line">
            <a:avLst/>
          </a:prstGeom>
          <a:ln w="25400">
            <a:solidFill>
              <a:srgbClr val="F1EFE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981148" y="2943621"/>
            <a:ext cx="288348" cy="0"/>
          </a:xfrm>
          <a:prstGeom prst="line">
            <a:avLst/>
          </a:prstGeom>
          <a:ln w="25400">
            <a:solidFill>
              <a:srgbClr val="F1EFE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239496" y="2943621"/>
            <a:ext cx="288348" cy="0"/>
          </a:xfrm>
          <a:prstGeom prst="line">
            <a:avLst/>
          </a:prstGeom>
          <a:ln w="25400">
            <a:solidFill>
              <a:srgbClr val="F1EFE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497844" y="2943621"/>
            <a:ext cx="288348" cy="0"/>
          </a:xfrm>
          <a:prstGeom prst="line">
            <a:avLst/>
          </a:prstGeom>
          <a:ln w="25400">
            <a:solidFill>
              <a:srgbClr val="F1EFE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722800" y="4129522"/>
            <a:ext cx="288348" cy="0"/>
          </a:xfrm>
          <a:prstGeom prst="line">
            <a:avLst/>
          </a:prstGeom>
          <a:ln w="25400">
            <a:solidFill>
              <a:srgbClr val="F1EFE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981148" y="4129522"/>
            <a:ext cx="288348" cy="0"/>
          </a:xfrm>
          <a:prstGeom prst="line">
            <a:avLst/>
          </a:prstGeom>
          <a:ln w="25400">
            <a:solidFill>
              <a:srgbClr val="F1EFE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239496" y="4129522"/>
            <a:ext cx="288348" cy="0"/>
          </a:xfrm>
          <a:prstGeom prst="line">
            <a:avLst/>
          </a:prstGeom>
          <a:ln w="25400">
            <a:solidFill>
              <a:srgbClr val="F1EFE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497844" y="4129522"/>
            <a:ext cx="288348" cy="0"/>
          </a:xfrm>
          <a:prstGeom prst="line">
            <a:avLst/>
          </a:prstGeom>
          <a:ln w="25400">
            <a:solidFill>
              <a:srgbClr val="F1EFE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0771192" y="3397902"/>
            <a:ext cx="0" cy="192000"/>
          </a:xfrm>
          <a:prstGeom prst="line">
            <a:avLst/>
          </a:prstGeom>
          <a:ln w="25400">
            <a:solidFill>
              <a:srgbClr val="F1EF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1737800" y="3589902"/>
            <a:ext cx="9033392" cy="0"/>
          </a:xfrm>
          <a:prstGeom prst="line">
            <a:avLst/>
          </a:prstGeom>
          <a:ln w="25400">
            <a:solidFill>
              <a:srgbClr val="F1EF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737800" y="3589902"/>
            <a:ext cx="0" cy="192000"/>
          </a:xfrm>
          <a:prstGeom prst="line">
            <a:avLst/>
          </a:prstGeom>
          <a:ln w="25400">
            <a:solidFill>
              <a:srgbClr val="F1EFE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00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40"/>
              </a:lnSpc>
              <a:buNone/>
            </a:pPr>
            <a:r>
              <a:rPr lang="en-US" sz="3400" b="1" i="0" dirty="0">
                <a:solidFill>
                  <a:srgbClr val="1426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Trading speed we do not need for area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15975" y="1595735"/>
            <a:ext cx="5181600" cy="1423591"/>
          </a:xfrm>
          <a:prstGeom prst="roundRect">
            <a:avLst>
              <a:gd name="adj" fmla="val 8698"/>
            </a:avLst>
          </a:prstGeom>
          <a:solidFill>
            <a:srgbClr val="FFFFFF"/>
          </a:solidFill>
          <a:ln w="6350">
            <a:solidFill>
              <a:srgbClr val="D9D6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3150" y="1852910"/>
            <a:ext cx="4807268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6A7A7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Fully parallel GRU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73150" y="2228751"/>
            <a:ext cx="4807268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426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Many multipliers working at once. Fast, but large and power hungry.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03950" y="1592560"/>
            <a:ext cx="5175250" cy="1429941"/>
          </a:xfrm>
          <a:prstGeom prst="roundRect">
            <a:avLst>
              <a:gd name="adj" fmla="val 8881"/>
            </a:avLst>
          </a:prstGeom>
          <a:solidFill>
            <a:srgbClr val="0F2A2E"/>
          </a:solidFill>
          <a:ln/>
        </p:spPr>
      </p:sp>
      <p:sp>
        <p:nvSpPr>
          <p:cNvPr id="7" name="Text 5"/>
          <p:cNvSpPr/>
          <p:nvPr/>
        </p:nvSpPr>
        <p:spPr>
          <a:xfrm>
            <a:off x="6457950" y="1846560"/>
            <a:ext cx="4807268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FD0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Our time-multiplexed GRU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57950" y="2222401"/>
            <a:ext cx="4807268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1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One multiplier path reused for every term. About 1573 cycles per frame.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12800" y="3327301"/>
            <a:ext cx="3488233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4200" b="1" dirty="0">
                <a:solidFill>
                  <a:srgbClr val="0B8A7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15.73 µs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812800" y="3886101"/>
            <a:ext cx="3488233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B5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at 100 MHz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402634" y="3327301"/>
            <a:ext cx="3488233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4200" b="1" dirty="0">
                <a:solidFill>
                  <a:srgbClr val="0B8A7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23.6 µs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4402634" y="3886101"/>
            <a:ext cx="3488233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B5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at the 15 ns signoff clock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992467" y="3327301"/>
            <a:ext cx="3488233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4200" b="1" dirty="0">
                <a:solidFill>
                  <a:srgbClr val="C970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 ms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7992467" y="3886101"/>
            <a:ext cx="3488233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B5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budget per frame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12800" y="4439741"/>
            <a:ext cx="1088339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426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Area and power are the primary metrics, so the design spends cycles we have to spare.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12800" y="6238280"/>
            <a:ext cx="18440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A7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Team 18 · powerhouse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00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40"/>
              </a:lnSpc>
              <a:buNone/>
            </a:pPr>
            <a:r>
              <a:rPr lang="en-US" sz="3400" b="1" i="0" dirty="0">
                <a:solidFill>
                  <a:srgbClr val="1426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Number formats and accuracy</a:t>
            </a:r>
            <a:endParaRPr lang="en-US" sz="3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554460"/>
          <a:ext cx="4813300" cy="2889250"/>
        </p:xfrm>
        <a:graphic>
          <a:graphicData uri="http://schemas.openxmlformats.org/drawingml/2006/table">
            <a:tbl>
              <a:tblPr/>
              <a:tblGrid>
                <a:gridCol w="2406650"/>
                <a:gridCol w="2406650"/>
              </a:tblGrid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4262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Quantity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0D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4262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Format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0DB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62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Features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62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INT8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62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Weights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62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INT8, Q.6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62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Biases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62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INT16, Q.14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62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Activations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62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INT16, Q1.14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62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Accumulator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62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INT32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62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LUTs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62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256 entries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943600" y="1541760"/>
            <a:ext cx="2654300" cy="1381125"/>
          </a:xfrm>
          <a:prstGeom prst="roundRect">
            <a:avLst>
              <a:gd name="adj" fmla="val 7356"/>
            </a:avLst>
          </a:prstGeom>
          <a:solidFill>
            <a:srgbClr val="0F2A2E"/>
          </a:solidFill>
          <a:ln/>
        </p:spPr>
      </p:sp>
      <p:sp>
        <p:nvSpPr>
          <p:cNvPr id="5" name="Text 2"/>
          <p:cNvSpPr/>
          <p:nvPr/>
        </p:nvSpPr>
        <p:spPr>
          <a:xfrm>
            <a:off x="6121400" y="1719560"/>
            <a:ext cx="2367661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600" b="1" dirty="0">
                <a:solidFill>
                  <a:srgbClr val="3FD0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0.0043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6121400" y="2087860"/>
            <a:ext cx="236766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1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score rms error vs float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8724900" y="1541760"/>
            <a:ext cx="2654300" cy="1381125"/>
          </a:xfrm>
          <a:prstGeom prst="roundRect">
            <a:avLst>
              <a:gd name="adj" fmla="val 7356"/>
            </a:avLst>
          </a:prstGeom>
          <a:solidFill>
            <a:srgbClr val="0F2A2E"/>
          </a:solidFill>
          <a:ln/>
        </p:spPr>
      </p:sp>
      <p:sp>
        <p:nvSpPr>
          <p:cNvPr id="8" name="Text 5"/>
          <p:cNvSpPr/>
          <p:nvPr/>
        </p:nvSpPr>
        <p:spPr>
          <a:xfrm>
            <a:off x="8902700" y="1719560"/>
            <a:ext cx="2367661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600" b="1" dirty="0">
                <a:solidFill>
                  <a:srgbClr val="3FD0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0.026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8902700" y="2087860"/>
            <a:ext cx="236766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1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score max error vs float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946775" y="3053060"/>
            <a:ext cx="2647950" cy="1387475"/>
          </a:xfrm>
          <a:prstGeom prst="roundRect">
            <a:avLst>
              <a:gd name="adj" fmla="val 7094"/>
            </a:avLst>
          </a:prstGeom>
          <a:solidFill>
            <a:srgbClr val="FFFFFF"/>
          </a:solidFill>
          <a:ln w="6350">
            <a:solidFill>
              <a:srgbClr val="D9D6C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127750" y="3234035"/>
            <a:ext cx="235458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600" b="1" dirty="0">
                <a:solidFill>
                  <a:srgbClr val="0B8A7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0.0078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6127750" y="3602335"/>
            <a:ext cx="23545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26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sigmoid LUT max error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728075" y="3053060"/>
            <a:ext cx="2647950" cy="1387475"/>
          </a:xfrm>
          <a:prstGeom prst="roundRect">
            <a:avLst>
              <a:gd name="adj" fmla="val 7094"/>
            </a:avLst>
          </a:prstGeom>
          <a:solidFill>
            <a:srgbClr val="FFFFFF"/>
          </a:solidFill>
          <a:ln w="6350">
            <a:solidFill>
              <a:srgbClr val="D9D6C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909050" y="3234035"/>
            <a:ext cx="235458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600" b="1" dirty="0">
                <a:solidFill>
                  <a:srgbClr val="0B8A7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0.031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8909050" y="3602335"/>
            <a:ext cx="23545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26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tanh LUT max error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12800" y="4697710"/>
            <a:ext cx="1088339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0B8A7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 of 2000 alert decisions differ from the float model.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812800" y="6238280"/>
            <a:ext cx="18440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A7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Team 18 · powerhouse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2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1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RTL-to-GDSII flow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800" y="1513780"/>
            <a:ext cx="1265238" cy="843161"/>
          </a:xfrm>
          <a:prstGeom prst="roundRect">
            <a:avLst>
              <a:gd name="adj" fmla="val 10544"/>
            </a:avLst>
          </a:prstGeom>
          <a:solidFill>
            <a:srgbClr val="17403F"/>
          </a:solidFill>
          <a:ln/>
        </p:spPr>
      </p:sp>
      <p:sp>
        <p:nvSpPr>
          <p:cNvPr id="4" name="Text 2"/>
          <p:cNvSpPr/>
          <p:nvPr/>
        </p:nvSpPr>
        <p:spPr>
          <a:xfrm>
            <a:off x="838200" y="1615380"/>
            <a:ext cx="1214438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1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Golden model + QAT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38200" y="2042021"/>
            <a:ext cx="121443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FD0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Python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141538" y="1513780"/>
            <a:ext cx="1265238" cy="843161"/>
          </a:xfrm>
          <a:prstGeom prst="roundRect">
            <a:avLst>
              <a:gd name="adj" fmla="val 10544"/>
            </a:avLst>
          </a:prstGeom>
          <a:solidFill>
            <a:srgbClr val="17403F"/>
          </a:solidFill>
          <a:ln/>
        </p:spPr>
      </p:sp>
      <p:sp>
        <p:nvSpPr>
          <p:cNvPr id="7" name="Text 5"/>
          <p:cNvSpPr/>
          <p:nvPr/>
        </p:nvSpPr>
        <p:spPr>
          <a:xfrm>
            <a:off x="2166938" y="1615380"/>
            <a:ext cx="121443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1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RTL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166938" y="1828701"/>
            <a:ext cx="121443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FD0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Verilog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0275" y="1513780"/>
            <a:ext cx="1265238" cy="843161"/>
          </a:xfrm>
          <a:prstGeom prst="roundRect">
            <a:avLst>
              <a:gd name="adj" fmla="val 10544"/>
            </a:avLst>
          </a:prstGeom>
          <a:solidFill>
            <a:srgbClr val="17403F"/>
          </a:solidFill>
          <a:ln/>
        </p:spPr>
      </p:sp>
      <p:sp>
        <p:nvSpPr>
          <p:cNvPr id="10" name="Text 8"/>
          <p:cNvSpPr/>
          <p:nvPr/>
        </p:nvSpPr>
        <p:spPr>
          <a:xfrm>
            <a:off x="3495675" y="1615380"/>
            <a:ext cx="121443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1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Regression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95675" y="1828701"/>
            <a:ext cx="121443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FD0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ncsim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99013" y="1513780"/>
            <a:ext cx="1265238" cy="843161"/>
          </a:xfrm>
          <a:prstGeom prst="roundRect">
            <a:avLst>
              <a:gd name="adj" fmla="val 10544"/>
            </a:avLst>
          </a:prstGeom>
          <a:solidFill>
            <a:srgbClr val="17403F"/>
          </a:solidFill>
          <a:ln/>
        </p:spPr>
      </p:sp>
      <p:sp>
        <p:nvSpPr>
          <p:cNvPr id="13" name="Text 11"/>
          <p:cNvSpPr/>
          <p:nvPr/>
        </p:nvSpPr>
        <p:spPr>
          <a:xfrm>
            <a:off x="4824413" y="1615380"/>
            <a:ext cx="121443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1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Synthesis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24413" y="1828701"/>
            <a:ext cx="121443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FD0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Genus 21.1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7750" y="1513780"/>
            <a:ext cx="1265238" cy="843161"/>
          </a:xfrm>
          <a:prstGeom prst="roundRect">
            <a:avLst>
              <a:gd name="adj" fmla="val 10544"/>
            </a:avLst>
          </a:prstGeom>
          <a:solidFill>
            <a:srgbClr val="17403F"/>
          </a:solidFill>
          <a:ln/>
        </p:spPr>
      </p:sp>
      <p:sp>
        <p:nvSpPr>
          <p:cNvPr id="16" name="Text 14"/>
          <p:cNvSpPr/>
          <p:nvPr/>
        </p:nvSpPr>
        <p:spPr>
          <a:xfrm>
            <a:off x="6153150" y="1615380"/>
            <a:ext cx="1214438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1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Place and route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53150" y="2042021"/>
            <a:ext cx="121443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FD0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Innovus 21.15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456488" y="1513780"/>
            <a:ext cx="1265238" cy="843161"/>
          </a:xfrm>
          <a:prstGeom prst="roundRect">
            <a:avLst>
              <a:gd name="adj" fmla="val 10544"/>
            </a:avLst>
          </a:prstGeom>
          <a:solidFill>
            <a:srgbClr val="17403F"/>
          </a:solidFill>
          <a:ln/>
        </p:spPr>
      </p:sp>
      <p:sp>
        <p:nvSpPr>
          <p:cNvPr id="19" name="Text 17"/>
          <p:cNvSpPr/>
          <p:nvPr/>
        </p:nvSpPr>
        <p:spPr>
          <a:xfrm>
            <a:off x="7481887" y="1615380"/>
            <a:ext cx="121443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1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Signoff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481887" y="1828701"/>
            <a:ext cx="121443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FD0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Tempus 22.11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785225" y="1513780"/>
            <a:ext cx="1265238" cy="843161"/>
          </a:xfrm>
          <a:prstGeom prst="roundRect">
            <a:avLst>
              <a:gd name="adj" fmla="val 10544"/>
            </a:avLst>
          </a:prstGeom>
          <a:solidFill>
            <a:srgbClr val="17403F"/>
          </a:solidFill>
          <a:ln/>
        </p:spPr>
      </p:sp>
      <p:sp>
        <p:nvSpPr>
          <p:cNvPr id="22" name="Text 20"/>
          <p:cNvSpPr/>
          <p:nvPr/>
        </p:nvSpPr>
        <p:spPr>
          <a:xfrm>
            <a:off x="8810625" y="1615380"/>
            <a:ext cx="121443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1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GLS + SAIF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810625" y="1828701"/>
            <a:ext cx="121443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FD0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ncsim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0113963" y="1513780"/>
            <a:ext cx="1265238" cy="843161"/>
          </a:xfrm>
          <a:prstGeom prst="roundRect">
            <a:avLst>
              <a:gd name="adj" fmla="val 10544"/>
            </a:avLst>
          </a:prstGeom>
          <a:solidFill>
            <a:srgbClr val="3FD0B4"/>
          </a:solidFill>
          <a:ln/>
        </p:spPr>
      </p:sp>
      <p:sp>
        <p:nvSpPr>
          <p:cNvPr id="25" name="Text 23"/>
          <p:cNvSpPr/>
          <p:nvPr/>
        </p:nvSpPr>
        <p:spPr>
          <a:xfrm>
            <a:off x="10139363" y="1615380"/>
            <a:ext cx="121443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F2A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GDSII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139363" y="1828701"/>
            <a:ext cx="121443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F2A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Innovus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12800" y="2702421"/>
            <a:ext cx="5714603" cy="3048000"/>
          </a:xfrm>
          <a:prstGeom prst="roundRect">
            <a:avLst>
              <a:gd name="adj" fmla="val 3333"/>
            </a:avLst>
          </a:prstGeom>
          <a:solidFill>
            <a:srgbClr val="0A1D20"/>
          </a:solidFill>
          <a:ln/>
        </p:spPr>
      </p:sp>
      <p:pic>
        <p:nvPicPr>
          <p:cNvPr id="28" name="Image 0" descr="Genus schematic of the synthesised design">    </p:cNvPr>
          <p:cNvPicPr>
            <a:picLocks noChangeAspect="1"/>
          </p:cNvPicPr>
          <p:nvPr/>
        </p:nvPicPr>
        <p:blipFill>
          <a:blip r:embed="rId1"/>
          <a:srcRect l="0" r="0" t="-404" b="-404"/>
          <a:stretch/>
        </p:blipFill>
        <p:spPr>
          <a:xfrm>
            <a:off x="812800" y="2702421"/>
            <a:ext cx="5714603" cy="3048000"/>
          </a:xfrm>
          <a:prstGeom prst="roundRect">
            <a:avLst>
              <a:gd name="adj" fmla="val 3333"/>
            </a:avLst>
          </a:prstGeom>
        </p:spPr>
      </p:pic>
      <p:sp>
        <p:nvSpPr>
          <p:cNvPr id="29" name="Text 26"/>
          <p:cNvSpPr/>
          <p:nvPr/>
        </p:nvSpPr>
        <p:spPr>
          <a:xfrm>
            <a:off x="6730603" y="3959721"/>
            <a:ext cx="4788055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B9CFC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Genus synthesis result: 30,970 leaf cells across 2 modules.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812800" y="6238280"/>
            <a:ext cx="18440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FA3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Team 18 · powerhouse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6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Verification: bit-exact against the model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488380"/>
            <a:ext cx="5598668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426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 seeds × 2000 frames</a:t>
            </a:r>
            <a:r>
              <a:rPr lang="en-US" sz="1500" dirty="0">
                <a:solidFill>
                  <a:srgbClr val="1426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in ncsim, 0 errors.</a:t>
            </a:r>
            <a:endParaRPr lang="en-US" sz="15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426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200 gate-level frames</a:t>
            </a:r>
            <a:r>
              <a:rPr lang="en-US" sz="1500" dirty="0">
                <a:solidFill>
                  <a:srgbClr val="1426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0 errors.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97382" y="2148780"/>
            <a:ext cx="5506466" cy="1358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9418" indent="-16941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2D40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Reset and flush mid-compute</a:t>
            </a:r>
            <a:endParaRPr lang="en-US" sz="1400" dirty="0"/>
          </a:p>
          <a:p>
            <a:pPr algn="l" marL="169418" indent="-16941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2D40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Early tlast</a:t>
            </a:r>
            <a:endParaRPr lang="en-US" sz="1400" dirty="0"/>
          </a:p>
          <a:p>
            <a:pPr algn="l" marL="169418" indent="-16941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2D40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Saturated inputs</a:t>
            </a:r>
            <a:endParaRPr lang="en-US" sz="1400" dirty="0"/>
          </a:p>
          <a:p>
            <a:pPr algn="l" marL="169418" indent="-16941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2D40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Back-to-back frames</a:t>
            </a:r>
            <a:endParaRPr lang="en-US" sz="1400" dirty="0"/>
          </a:p>
          <a:p>
            <a:pPr algn="l" marL="169418" indent="-16941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2D40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Threshold crossed both ways: 5 assertions, 5 deassertions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12800" y="3609280"/>
            <a:ext cx="5598668" cy="771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D40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One-hour stream (360,000 frames) passes in the model with 442 alert assertions. Correlation 0.956 against a synthetic quality label.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553200" y="1488380"/>
            <a:ext cx="4826000" cy="2730500"/>
          </a:xfrm>
          <a:prstGeom prst="roundRect">
            <a:avLst>
              <a:gd name="adj" fmla="val 3721"/>
            </a:avLst>
          </a:prstGeom>
          <a:solidFill>
            <a:srgbClr val="0A1D20"/>
          </a:solidFill>
          <a:ln/>
        </p:spPr>
      </p:sp>
      <p:pic>
        <p:nvPicPr>
          <p:cNvPr id="7" name="Image 0" descr="SimVision waveform from the RTL testbenc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53200" y="1576934"/>
            <a:ext cx="4826000" cy="2553393"/>
          </a:xfrm>
          <a:custGeom>
            <a:avLst/>
            <a:gdLst/>
            <a:ahLst/>
            <a:cxnLst/>
            <a:rect l="l" t="t" r="r" b="b"/>
            <a:pathLst>
              <a:path w="4826000" h="2553393">
                <a:moveTo>
                  <a:pt x="0" y="13046"/>
                </a:moveTo>
                <a:arcTo wR="101600" hR="101600" stAng="10800000" swAng="442660"/>
                <a:lnTo>
                  <a:pt x="4825159" y="0"/>
                </a:lnTo>
                <a:arcTo wR="101600" hR="101600" stAng="21157340" swAng="442660"/>
                <a:lnTo>
                  <a:pt x="4826000" y="2540346"/>
                </a:lnTo>
                <a:arcTo wR="101600" hR="101600" stAng="0" swAng="442660"/>
                <a:lnTo>
                  <a:pt x="841" y="2553393"/>
                </a:lnTo>
                <a:arcTo wR="101600" hR="101600" stAng="10357340" swAng="442660"/>
                <a:close/>
              </a:path>
            </a:pathLst>
          </a:custGeom>
        </p:spPr>
      </p:pic>
      <p:sp>
        <p:nvSpPr>
          <p:cNvPr id="8" name="Text 5"/>
          <p:cNvSpPr/>
          <p:nvPr/>
        </p:nvSpPr>
        <p:spPr>
          <a:xfrm>
            <a:off x="812800" y="6238280"/>
            <a:ext cx="18440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A7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Team 18 · powerhouse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2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F1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Implementation results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12800" y="1435100"/>
            <a:ext cx="2546350" cy="822920"/>
          </a:xfrm>
          <a:prstGeom prst="roundRect">
            <a:avLst>
              <a:gd name="adj" fmla="val 12346"/>
            </a:avLst>
          </a:prstGeom>
          <a:solidFill>
            <a:srgbClr val="17403F"/>
          </a:solidFill>
          <a:ln/>
        </p:spPr>
      </p:sp>
      <p:sp>
        <p:nvSpPr>
          <p:cNvPr id="4" name="Text 2"/>
          <p:cNvSpPr/>
          <p:nvPr/>
        </p:nvSpPr>
        <p:spPr>
          <a:xfrm>
            <a:off x="952500" y="1574800"/>
            <a:ext cx="2334958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600" b="1" dirty="0">
                <a:solidFill>
                  <a:srgbClr val="3FD0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1.255 mm²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52500" y="1905000"/>
            <a:ext cx="233495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1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cell area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86150" y="1435100"/>
            <a:ext cx="2546350" cy="822920"/>
          </a:xfrm>
          <a:prstGeom prst="roundRect">
            <a:avLst>
              <a:gd name="adj" fmla="val 12346"/>
            </a:avLst>
          </a:prstGeom>
          <a:solidFill>
            <a:srgbClr val="17403F"/>
          </a:solidFill>
          <a:ln/>
        </p:spPr>
      </p:sp>
      <p:sp>
        <p:nvSpPr>
          <p:cNvPr id="7" name="Text 5"/>
          <p:cNvSpPr/>
          <p:nvPr/>
        </p:nvSpPr>
        <p:spPr>
          <a:xfrm>
            <a:off x="3625850" y="1574800"/>
            <a:ext cx="2334958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600" b="1" dirty="0">
                <a:solidFill>
                  <a:srgbClr val="3FD0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30,970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625850" y="1905000"/>
            <a:ext cx="233495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1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cells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59500" y="1435100"/>
            <a:ext cx="2546350" cy="822920"/>
          </a:xfrm>
          <a:prstGeom prst="roundRect">
            <a:avLst>
              <a:gd name="adj" fmla="val 12346"/>
            </a:avLst>
          </a:prstGeom>
          <a:solidFill>
            <a:srgbClr val="17403F"/>
          </a:solidFill>
          <a:ln/>
        </p:spPr>
      </p:sp>
      <p:sp>
        <p:nvSpPr>
          <p:cNvPr id="10" name="Text 8"/>
          <p:cNvSpPr/>
          <p:nvPr/>
        </p:nvSpPr>
        <p:spPr>
          <a:xfrm>
            <a:off x="6299200" y="1574800"/>
            <a:ext cx="2334958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600" b="1" dirty="0">
                <a:solidFill>
                  <a:srgbClr val="3FD0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66.7 MHz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299200" y="1905000"/>
            <a:ext cx="233495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1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 ns, positive slack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832850" y="1435100"/>
            <a:ext cx="2546350" cy="822920"/>
          </a:xfrm>
          <a:prstGeom prst="roundRect">
            <a:avLst>
              <a:gd name="adj" fmla="val 12346"/>
            </a:avLst>
          </a:prstGeom>
          <a:solidFill>
            <a:srgbClr val="17403F"/>
          </a:solidFill>
          <a:ln/>
        </p:spPr>
      </p:sp>
      <p:sp>
        <p:nvSpPr>
          <p:cNvPr id="13" name="Text 11"/>
          <p:cNvSpPr/>
          <p:nvPr/>
        </p:nvSpPr>
        <p:spPr>
          <a:xfrm>
            <a:off x="8972550" y="1574800"/>
            <a:ext cx="2334958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600" b="1" dirty="0">
                <a:solidFill>
                  <a:srgbClr val="3FD0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23.6 µs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8972550" y="1905000"/>
            <a:ext cx="233495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1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latency per frame</a:t>
            </a:r>
            <a:endParaRPr lang="en-US" sz="1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2473920"/>
          <a:ext cx="3924300" cy="2660650"/>
        </p:xfrm>
        <a:graphic>
          <a:graphicData uri="http://schemas.openxmlformats.org/drawingml/2006/table">
            <a:tbl>
              <a:tblPr/>
              <a:tblGrid>
                <a:gridCol w="2354580"/>
                <a:gridCol w="1569720"/>
              </a:tblGrid>
              <a:tr h="33258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1EFE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Check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3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26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26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B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1EFE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Result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526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26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26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B3E"/>
                    </a:solidFill>
                  </a:tcPr>
                </a:tc>
              </a:tr>
              <a:tr h="33258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1EFE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Post-route setup WNS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3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26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1EFE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+0.165 ns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3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26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58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1EFE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Post-route hold WNS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3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1EFE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+0.122 ns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3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58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1EFE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Tempus setup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3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1EFE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+0.237 ns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3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58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1EFE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Tempus hold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3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1EFE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+0.840 ns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3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58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1EFE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DRC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3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1EFE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0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3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58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1EFE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Connectivity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3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1EFE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clean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3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58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1EFE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Antenna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3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1EFE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1 violation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3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812800" y="6238280"/>
            <a:ext cx="18440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FA3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Team 18 · powerhouse</a:t>
            </a:r>
            <a:endParaRPr lang="en-US" sz="1200" dirty="0"/>
          </a:p>
        </p:txBody>
      </p:sp>
      <p:pic>
        <p:nvPicPr>
          <p:cNvPr id="17" name="Picture 16" descr="fig8_c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0000" y="2473920"/>
            <a:ext cx="3150000" cy="1880553"/>
          </a:xfrm>
          <a:prstGeom prst="rect">
            <a:avLst/>
          </a:prstGeom>
          <a:ln w="9525">
            <a:solidFill>
              <a:srgbClr val="3A5A5F"/>
            </a:solidFill>
          </a:ln>
        </p:spPr>
      </p:pic>
      <p:pic>
        <p:nvPicPr>
          <p:cNvPr id="18" name="Picture 17" descr="fig9_layou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0000" y="2473920"/>
            <a:ext cx="3150000" cy="3058291"/>
          </a:xfrm>
          <a:prstGeom prst="rect">
            <a:avLst/>
          </a:prstGeom>
          <a:ln w="9525">
            <a:solidFill>
              <a:srgbClr val="3A5A5F"/>
            </a:solidFill>
          </a:ln>
        </p:spPr>
      </p:pic>
      <p:sp>
        <p:nvSpPr>
          <p:cNvPr id="19" name="TextBox 18"/>
          <p:cNvSpPr txBox="1"/>
          <p:nvPr/>
        </p:nvSpPr>
        <p:spPr>
          <a:xfrm>
            <a:off x="4950000" y="4414473"/>
            <a:ext cx="315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C9D3D2"/>
                </a:solidFill>
                <a:latin typeface="DM Sans"/>
              </a:rPr>
              <a:t>Clock tree debugger, dc_slow: 14,398 sinks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0000" y="5592211"/>
            <a:ext cx="315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C9D3D2"/>
                </a:solidFill>
                <a:latin typeface="DM Sans"/>
              </a:rPr>
              <a:t>Final routed layout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6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Power: above target, and we say so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513780"/>
            <a:ext cx="497078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6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Vectorless (Genus): 80.8 mW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12800" y="1813421"/>
            <a:ext cx="4572000" cy="355600"/>
          </a:xfrm>
          <a:prstGeom prst="roundRect">
            <a:avLst>
              <a:gd name="adj" fmla="val 14286"/>
            </a:avLst>
          </a:prstGeom>
          <a:solidFill>
            <a:srgbClr val="C9701C"/>
          </a:solidFill>
          <a:ln/>
        </p:spPr>
      </p:sp>
      <p:sp>
        <p:nvSpPr>
          <p:cNvPr id="5" name="Text 3"/>
          <p:cNvSpPr/>
          <p:nvPr/>
        </p:nvSpPr>
        <p:spPr>
          <a:xfrm>
            <a:off x="812800" y="2321421"/>
            <a:ext cx="497078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6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Activity-based (Tempus, SAIF): 23.88 mW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12800" y="2621062"/>
            <a:ext cx="1352550" cy="355600"/>
          </a:xfrm>
          <a:prstGeom prst="roundRect">
            <a:avLst>
              <a:gd name="adj" fmla="val 14286"/>
            </a:avLst>
          </a:prstGeom>
          <a:solidFill>
            <a:srgbClr val="0B8A74"/>
          </a:solidFill>
          <a:ln/>
        </p:spPr>
      </p:sp>
      <p:sp>
        <p:nvSpPr>
          <p:cNvPr id="7" name="Text 5"/>
          <p:cNvSpPr/>
          <p:nvPr/>
        </p:nvSpPr>
        <p:spPr>
          <a:xfrm>
            <a:off x="812800" y="3129062"/>
            <a:ext cx="4970780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B5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brief asks for low-milliwatt power. Both numbers sit above that goal. Bar lengths are to scale.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65520" y="1513780"/>
            <a:ext cx="5467604" cy="21028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2880" indent="-182880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1426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Sequential cells draw 73.9% of power.</a:t>
            </a:r>
            <a:endParaRPr lang="en-US" sz="1500" dirty="0"/>
          </a:p>
          <a:p>
            <a:pPr algn="l" marL="182880" indent="-182880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1426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weight array is about 92% of the flops.</a:t>
            </a:r>
            <a:endParaRPr lang="en-US" sz="1500" dirty="0"/>
          </a:p>
          <a:p>
            <a:pPr algn="l" marL="182880" indent="-182880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1426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Fixes: clock gating, a 10 MHz clock, and duty cycling.</a:t>
            </a:r>
            <a:endParaRPr lang="en-US" sz="1500" dirty="0"/>
          </a:p>
          <a:p>
            <a:pPr algn="l" marL="182880" indent="-182880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1426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One frame keeps the core busy about 0.16% of a 10 ms period at 100 MHz, 1.6% at 10 MHz.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12800" y="6238280"/>
            <a:ext cx="18440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A7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Team 18 · powerhouse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238280"/>
            <a:ext cx="18440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FA3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Team 18 · powerhouse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1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Limitations and next steps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485900"/>
            <a:ext cx="5284724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E8913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Where we fall short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97382" y="1861741"/>
            <a:ext cx="5192522" cy="13142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9418" indent="-16941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F1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GDS has no foundry map or standard-cell merge, because the 0.18 µm GDS was not available.</a:t>
            </a:r>
            <a:endParaRPr lang="en-US" sz="1400" dirty="0"/>
          </a:p>
          <a:p>
            <a:pPr algn="l" marL="169418" indent="-16941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F1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Power is above target.</a:t>
            </a:r>
            <a:endParaRPr lang="en-US" sz="1400" dirty="0"/>
          </a:p>
          <a:p>
            <a:pPr algn="l" marL="169418" indent="-16941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F1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497 nets exceed the max-fanout limit.</a:t>
            </a:r>
            <a:endParaRPr lang="en-US" sz="1400" dirty="0"/>
          </a:p>
          <a:p>
            <a:pPr algn="l" marL="169418" indent="-16941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F1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Fault injection and coverage were not run.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248400" y="1485900"/>
            <a:ext cx="5284724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FD0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Next steps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332982" y="1861741"/>
            <a:ext cx="5192522" cy="798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9418" indent="-16941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F1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Pipeline the multiplier if 100 MHz is required.</a:t>
            </a:r>
            <a:endParaRPr lang="en-US" sz="1400" dirty="0"/>
          </a:p>
          <a:p>
            <a:pPr algn="l" marL="169418" indent="-16941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F1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Try the RAM macros in the LEF for the weights.</a:t>
            </a:r>
            <a:endParaRPr lang="en-US" sz="1400" dirty="0"/>
          </a:p>
          <a:p>
            <a:pPr algn="l" marL="169418" indent="-16941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F1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Add clock gating.</a:t>
            </a:r>
            <a:endParaRPr lang="en-US" sz="1400" dirty="0"/>
          </a:p>
        </p:txBody>
      </p:sp>
      <p:pic>
        <p:nvPicPr>
          <p:cNvPr id="8" name="Image 0" descr="Antenna markers in the routed layout">    </p:cNvPr>
          <p:cNvPicPr>
            <a:picLocks noChangeAspect="1"/>
          </p:cNvPicPr>
          <p:nvPr/>
        </p:nvPicPr>
        <p:blipFill>
          <a:blip r:embed="rId1"/>
          <a:srcRect l="8159" r="8159" t="0" b="0"/>
          <a:stretch/>
        </p:blipFill>
        <p:spPr>
          <a:xfrm>
            <a:off x="6248400" y="2736850"/>
            <a:ext cx="4316710" cy="2729309"/>
          </a:xfrm>
          <a:prstGeom prst="roundRect">
            <a:avLst>
              <a:gd name="adj" fmla="val 2792"/>
            </a:avLst>
          </a:prstGeom>
        </p:spPr>
      </p:pic>
      <p:sp>
        <p:nvSpPr>
          <p:cNvPr id="9" name="Text 6"/>
          <p:cNvSpPr/>
          <p:nvPr/>
        </p:nvSpPr>
        <p:spPr>
          <a:xfrm>
            <a:off x="6248400" y="5811639"/>
            <a:ext cx="5284724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9CFC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Backup: antenna markers, 1 violation in the final run versus 150 in the first.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891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612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620"/>
              </a:lnSpc>
              <a:buNone/>
            </a:pPr>
            <a:r>
              <a:rPr lang="en-US" sz="4400" b="1" dirty="0">
                <a:solidFill>
                  <a:srgbClr val="1426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12800" y="1602680"/>
            <a:ext cx="10566400" cy="660400"/>
          </a:xfrm>
          <a:prstGeom prst="roundRect">
            <a:avLst>
              <a:gd name="adj" fmla="val 15385"/>
            </a:avLst>
          </a:prstGeom>
          <a:solidFill>
            <a:srgbClr val="14262A"/>
          </a:solidFill>
          <a:ln/>
        </p:spPr>
        <p:txBody>
          <a:bodyPr wrap="square" lIns="198842" tIns="122642" rIns="0" bIns="97242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F1EFE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scripts/run_rtl_ncsim.sh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12800" y="2466280"/>
            <a:ext cx="1088339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426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Run the demo with one command. It prints the frames passing, with the alert asserting and clearing.</a:t>
            </a:r>
            <a:endParaRPr lang="en-US" sz="1600" dirty="0"/>
          </a:p>
        </p:txBody>
      </p:sp>
      <p:sp>
        <p:nvSpPr>
          <p:cNvPr id="5" name="Text 3">
            <a:hlinkClick r:id="rId3"/>
          </p:cNvPr>
          <p:cNvSpPr/>
          <p:nvPr/>
        </p:nvSpPr>
        <p:spPr>
          <a:xfrm>
            <a:off x="812800" y="3300000"/>
            <a:ext cx="10883392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000" b="1" dirty="0">
                <a:solidFill>
                  <a:srgbClr val="14141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https://github.com/RKNAGA18/vsm-gru-asic</a:t>
            </a:r>
            <a:endParaRPr lang="en-US" sz="3200" dirty="0"/>
          </a:p>
        </p:txBody>
      </p:sp>
      <p:sp>
        <p:nvSpPr>
          <p:cNvPr id="6" name="TextBox 5"/>
          <p:cNvSpPr txBox="1"/>
          <p:nvPr/>
        </p:nvSpPr>
        <p:spPr>
          <a:xfrm>
            <a:off x="812800" y="2950000"/>
            <a:ext cx="6000000" cy="3000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600">
                <a:solidFill>
                  <a:srgbClr val="14262A"/>
                </a:solidFill>
                <a:latin typeface="DM Sans"/>
              </a:rPr>
              <a:t>Source code and scripts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SM GRU ASIC">
  <a:themeElements>
    <a:clrScheme name="VSM GRU ASIC">
      <a:dk1>
        <a:srgbClr val="14262A"/>
      </a:dk1>
      <a:lt1>
        <a:srgbClr val="F4F2EC"/>
      </a:lt1>
      <a:dk2>
        <a:srgbClr val="4C595B"/>
      </a:dk2>
      <a:lt2>
        <a:srgbClr val="DEDED9"/>
      </a:lt2>
      <a:accent1>
        <a:srgbClr val="3FD0B4"/>
      </a:accent1>
      <a:accent2>
        <a:srgbClr val="17403F"/>
      </a:accent2>
      <a:accent3>
        <a:srgbClr val="0B8A74"/>
      </a:accent3>
      <a:accent4>
        <a:srgbClr val="E8913A"/>
      </a:accent4>
      <a:accent5>
        <a:srgbClr val="C9701C"/>
      </a:accent5>
      <a:accent6>
        <a:srgbClr val="4A5B5E"/>
      </a:accent6>
      <a:hlink>
        <a:srgbClr val="0563C1"/>
      </a:hlink>
      <a:folHlink>
        <a:srgbClr val="954F72"/>
      </a:folHlink>
    </a:clrScheme>
    <a:fontScheme name="VSM GRU ASIC">
      <a:majorFont>
        <a:latin typeface="DM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DM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VSM GRU ASIC</dc:title>
  <dc:subject/>
  <dc:creator/>
  <cp:lastModifiedBy/>
  <cp:revision>1</cp:revision>
  <dcterms:created xsi:type="dcterms:W3CDTF">2026-10-11T09:44:41Z</dcterms:created>
  <dcterms:modified xsi:type="dcterms:W3CDTF">2026-10-11T09:44:41Z</dcterms:modified>
</cp:coreProperties>
</file>